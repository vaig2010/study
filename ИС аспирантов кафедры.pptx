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8" r:id="rId1"/>
  </p:sldMasterIdLst>
  <p:sldIdLst>
    <p:sldId id="256" r:id="rId2"/>
    <p:sldId id="257" r:id="rId3"/>
    <p:sldId id="259" r:id="rId4"/>
    <p:sldId id="260" r:id="rId5"/>
    <p:sldId id="261" r:id="rId6"/>
    <p:sldId id="258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48E2A-E44B-42BB-92AC-01FCA3CDAAAC}" type="datetimeFigureOut">
              <a:rPr lang="ru-RU" smtClean="0"/>
              <a:t>17.06.2022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7DD0D-7155-4D17-B41C-94260F32C3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85706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48E2A-E44B-42BB-92AC-01FCA3CDAAAC}" type="datetimeFigureOut">
              <a:rPr lang="ru-RU" smtClean="0"/>
              <a:t>17.06.2022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7DD0D-7155-4D17-B41C-94260F32C3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5885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48E2A-E44B-42BB-92AC-01FCA3CDAAAC}" type="datetimeFigureOut">
              <a:rPr lang="ru-RU" smtClean="0"/>
              <a:t>17.06.2022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7DD0D-7155-4D17-B41C-94260F32C3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9864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48E2A-E44B-42BB-92AC-01FCA3CDAAAC}" type="datetimeFigureOut">
              <a:rPr lang="ru-RU" smtClean="0"/>
              <a:t>17.06.2022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7DD0D-7155-4D17-B41C-94260F32C3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7012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48E2A-E44B-42BB-92AC-01FCA3CDAAAC}" type="datetimeFigureOut">
              <a:rPr lang="ru-RU" smtClean="0"/>
              <a:t>17.06.2022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7DD0D-7155-4D17-B41C-94260F32C3A9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15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48E2A-E44B-42BB-92AC-01FCA3CDAAAC}" type="datetimeFigureOut">
              <a:rPr lang="ru-RU" smtClean="0"/>
              <a:t>17.06.2022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7DD0D-7155-4D17-B41C-94260F32C3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9849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48E2A-E44B-42BB-92AC-01FCA3CDAAAC}" type="datetimeFigureOut">
              <a:rPr lang="ru-RU" smtClean="0"/>
              <a:t>17.06.2022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7DD0D-7155-4D17-B41C-94260F32C3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6486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48E2A-E44B-42BB-92AC-01FCA3CDAAAC}" type="datetimeFigureOut">
              <a:rPr lang="ru-RU" smtClean="0"/>
              <a:t>17.06.2022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7DD0D-7155-4D17-B41C-94260F32C3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248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66148E2A-E44B-42BB-92AC-01FCA3CDAAAC}" type="datetimeFigureOut">
              <a:rPr lang="ru-RU" smtClean="0"/>
              <a:t>17.06.2022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7DD0D-7155-4D17-B41C-94260F32C3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823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48E2A-E44B-42BB-92AC-01FCA3CDAAAC}" type="datetimeFigureOut">
              <a:rPr lang="ru-RU" smtClean="0"/>
              <a:t>17.06.2022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7DD0D-7155-4D17-B41C-94260F32C3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262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48E2A-E44B-42BB-92AC-01FCA3CDAAAC}" type="datetimeFigureOut">
              <a:rPr lang="ru-RU" smtClean="0"/>
              <a:t>17.06.2022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7DD0D-7155-4D17-B41C-94260F32C3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5035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66148E2A-E44B-42BB-92AC-01FCA3CDAAAC}" type="datetimeFigureOut">
              <a:rPr lang="ru-RU" smtClean="0"/>
              <a:t>17.06.2022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08A7DD0D-7155-4D17-B41C-94260F32C3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7388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Демо-модель </a:t>
            </a:r>
            <a:br>
              <a:rPr lang="ru-RU" dirty="0" smtClean="0"/>
            </a:br>
            <a:r>
              <a:rPr lang="ru-RU" dirty="0" smtClean="0"/>
              <a:t>ИС «аспирантов кафедры»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165122" y="6339606"/>
            <a:ext cx="4026878" cy="518394"/>
          </a:xfrm>
        </p:spPr>
        <p:txBody>
          <a:bodyPr/>
          <a:lstStyle/>
          <a:p>
            <a:r>
              <a:rPr lang="ru-RU" dirty="0" smtClean="0"/>
              <a:t>Подготовил</a:t>
            </a:r>
            <a:r>
              <a:rPr lang="en-US" dirty="0" smtClean="0"/>
              <a:t>:</a:t>
            </a:r>
            <a:r>
              <a:rPr lang="ru-RU" dirty="0" smtClean="0"/>
              <a:t> Васькин И.Н.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2320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Цель и задачи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31136" y="3068867"/>
            <a:ext cx="7729728" cy="3101983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/>
              <a:t>Целью данной курсовой работы является упростить работу управлением базами данных, путем создания графического интерфейса.</a:t>
            </a:r>
          </a:p>
          <a:p>
            <a:pPr marL="0" indent="0">
              <a:buNone/>
            </a:pPr>
            <a:r>
              <a:rPr lang="ru-RU" sz="2000" dirty="0" smtClean="0"/>
              <a:t>Для </a:t>
            </a:r>
            <a:r>
              <a:rPr lang="ru-RU" sz="2000" dirty="0"/>
              <a:t>достижения цели были поставлены и выполнены следующие задачи: </a:t>
            </a:r>
          </a:p>
          <a:p>
            <a:r>
              <a:rPr lang="ru-RU" sz="2000" dirty="0" smtClean="0"/>
              <a:t>Разработка </a:t>
            </a:r>
            <a:r>
              <a:rPr lang="ru-RU" sz="2000" dirty="0"/>
              <a:t>программы с графическим интерфейсом, для управления базой данных.</a:t>
            </a:r>
          </a:p>
          <a:p>
            <a:r>
              <a:rPr lang="ru-RU" sz="2000" dirty="0" smtClean="0"/>
              <a:t>Разработка </a:t>
            </a:r>
            <a:r>
              <a:rPr lang="ru-RU" sz="2000" dirty="0"/>
              <a:t>программной документации.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3190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назначение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31136" y="3315051"/>
            <a:ext cx="7729728" cy="3101983"/>
          </a:xfrm>
        </p:spPr>
        <p:txBody>
          <a:bodyPr/>
          <a:lstStyle/>
          <a:p>
            <a:r>
              <a:rPr lang="ru-RU" sz="2000" dirty="0"/>
              <a:t>Программа предназначена для создания и управления базой данных с информацией </a:t>
            </a:r>
            <a:r>
              <a:rPr lang="ru-RU" sz="2000" dirty="0" smtClean="0"/>
              <a:t>аспирантов </a:t>
            </a:r>
            <a:r>
              <a:rPr lang="ru-RU" sz="2000" dirty="0"/>
              <a:t>кафедры.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5886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Условия выполнения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31136" y="3420559"/>
            <a:ext cx="7729728" cy="3101983"/>
          </a:xfrm>
        </p:spPr>
        <p:txBody>
          <a:bodyPr/>
          <a:lstStyle/>
          <a:p>
            <a:r>
              <a:rPr lang="ru-RU" dirty="0" smtClean="0"/>
              <a:t>Необходимая ОС</a:t>
            </a:r>
            <a:r>
              <a:rPr lang="en-US" dirty="0" smtClean="0"/>
              <a:t>: ALT Linux</a:t>
            </a:r>
          </a:p>
          <a:p>
            <a:r>
              <a:rPr lang="ru-RU" dirty="0" smtClean="0"/>
              <a:t>Необходимая система управления базами данных</a:t>
            </a:r>
            <a:r>
              <a:rPr lang="en-US" dirty="0" smtClean="0"/>
              <a:t>: MariaDB</a:t>
            </a:r>
          </a:p>
          <a:p>
            <a:r>
              <a:rPr lang="ru-RU" dirty="0" smtClean="0"/>
              <a:t>Необходимое место на жестком диске</a:t>
            </a:r>
            <a:r>
              <a:rPr lang="en-US" dirty="0" smtClean="0"/>
              <a:t>: ~7 MB</a:t>
            </a:r>
          </a:p>
          <a:p>
            <a:r>
              <a:rPr lang="ru-RU" dirty="0" smtClean="0"/>
              <a:t>Необходимо создать пользователя для управления БД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6501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выполнение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60798" y="3402975"/>
            <a:ext cx="7729728" cy="3101983"/>
          </a:xfrm>
        </p:spPr>
        <p:txBody>
          <a:bodyPr/>
          <a:lstStyle/>
          <a:p>
            <a:r>
              <a:rPr lang="ru-RU" dirty="0" smtClean="0"/>
              <a:t>Запустить </a:t>
            </a:r>
            <a:r>
              <a:rPr lang="en-US" dirty="0" smtClean="0">
                <a:latin typeface="Corbel" panose="020B0503020204020204" pitchFamily="34" charset="0"/>
              </a:rPr>
              <a:t>MariaDB</a:t>
            </a:r>
            <a:r>
              <a:rPr lang="en-US" dirty="0" smtClean="0"/>
              <a:t>:        </a:t>
            </a:r>
            <a:r>
              <a:rPr lang="ru-RU" dirty="0" smtClean="0"/>
              <a:t>/etc/</a:t>
            </a:r>
            <a:r>
              <a:rPr lang="ru-RU" dirty="0" err="1" smtClean="0"/>
              <a:t>rc.d</a:t>
            </a:r>
            <a:r>
              <a:rPr lang="ru-RU" dirty="0" smtClean="0"/>
              <a:t>/</a:t>
            </a:r>
            <a:r>
              <a:rPr lang="ru-RU" dirty="0" err="1" smtClean="0"/>
              <a:t>init.d</a:t>
            </a:r>
            <a:r>
              <a:rPr lang="ru-RU" dirty="0" smtClean="0"/>
              <a:t>/</a:t>
            </a:r>
            <a:r>
              <a:rPr lang="ru-RU" dirty="0" err="1" smtClean="0"/>
              <a:t>mysqld</a:t>
            </a:r>
            <a:r>
              <a:rPr lang="ru-RU" dirty="0" smtClean="0"/>
              <a:t> </a:t>
            </a:r>
            <a:r>
              <a:rPr lang="ru-RU" dirty="0" err="1" smtClean="0"/>
              <a:t>start</a:t>
            </a:r>
            <a:endParaRPr lang="en-US" dirty="0" smtClean="0"/>
          </a:p>
          <a:p>
            <a:r>
              <a:rPr lang="ru-RU" dirty="0" smtClean="0"/>
              <a:t>Запустить программу</a:t>
            </a:r>
            <a:r>
              <a:rPr lang="en-US" dirty="0" smtClean="0"/>
              <a:t>:    .</a:t>
            </a:r>
            <a:r>
              <a:rPr lang="en-US" dirty="0" smtClean="0">
                <a:latin typeface="Corbel" panose="020B0503020204020204" pitchFamily="34" charset="0"/>
              </a:rPr>
              <a:t>/</a:t>
            </a:r>
            <a:r>
              <a:rPr lang="en-US" dirty="0">
                <a:latin typeface="Corbel" panose="020B0503020204020204" pitchFamily="34" charset="0"/>
              </a:rPr>
              <a:t>create_db</a:t>
            </a:r>
          </a:p>
          <a:p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897944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Вход в систему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3163017"/>
            <a:ext cx="2600325" cy="1438275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6712" y="2796305"/>
            <a:ext cx="1943100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918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Управление бд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884" y="3131760"/>
            <a:ext cx="3829050" cy="11811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760" y="3007935"/>
            <a:ext cx="2905125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183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управление таблицами</a:t>
            </a:r>
            <a:endParaRPr lang="ru-RU" dirty="0"/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8164" y="2647217"/>
            <a:ext cx="7435671" cy="3524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642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Добавление строки</a:t>
            </a:r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2337699" y="2699238"/>
            <a:ext cx="7516601" cy="353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537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Основные трудности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586910"/>
          </a:xfrm>
        </p:spPr>
        <p:txBody>
          <a:bodyPr>
            <a:normAutofit/>
          </a:bodyPr>
          <a:lstStyle/>
          <a:p>
            <a:r>
              <a:rPr lang="ru-RU" sz="2000" b="1" dirty="0" smtClean="0"/>
              <a:t>Поиск по всем ячейкам</a:t>
            </a:r>
            <a:r>
              <a:rPr lang="en-US" sz="2000" b="1" dirty="0" smtClean="0"/>
              <a:t>:</a:t>
            </a:r>
          </a:p>
          <a:p>
            <a:pPr marL="0" indent="0">
              <a:buNone/>
            </a:pPr>
            <a:r>
              <a:rPr lang="ru-RU" sz="2000" dirty="0" smtClean="0">
                <a:latin typeface="Corbel" panose="020B0503020204020204" pitchFamily="34" charset="0"/>
              </a:rPr>
              <a:t>	</a:t>
            </a:r>
            <a:r>
              <a:rPr lang="en-US" sz="2000" dirty="0" smtClean="0">
                <a:latin typeface="Corbel" panose="020B0503020204020204" pitchFamily="34" charset="0"/>
              </a:rPr>
              <a:t>model-</a:t>
            </a:r>
            <a:r>
              <a:rPr lang="en-US" sz="2000" dirty="0">
                <a:latin typeface="Corbel" panose="020B0503020204020204" pitchFamily="34" charset="0"/>
              </a:rPr>
              <a:t>&gt;</a:t>
            </a:r>
            <a:r>
              <a:rPr lang="en-US" sz="2000" dirty="0" err="1">
                <a:latin typeface="Corbel" panose="020B0503020204020204" pitchFamily="34" charset="0"/>
              </a:rPr>
              <a:t>setFilter</a:t>
            </a:r>
            <a:r>
              <a:rPr lang="en-US" sz="2000" dirty="0">
                <a:latin typeface="Corbel" panose="020B0503020204020204" pitchFamily="34" charset="0"/>
              </a:rPr>
              <a:t>(</a:t>
            </a:r>
            <a:r>
              <a:rPr lang="en-US" sz="2000" dirty="0" err="1">
                <a:latin typeface="Corbel" panose="020B0503020204020204" pitchFamily="34" charset="0"/>
              </a:rPr>
              <a:t>QString</a:t>
            </a:r>
            <a:r>
              <a:rPr lang="en-US" sz="2000" dirty="0">
                <a:latin typeface="Corbel" panose="020B0503020204020204" pitchFamily="34" charset="0"/>
              </a:rPr>
              <a:t>("%1 = \"%2\"").</a:t>
            </a:r>
            <a:r>
              <a:rPr lang="en-US" sz="2000" dirty="0" err="1" smtClean="0">
                <a:latin typeface="Corbel" panose="020B0503020204020204" pitchFamily="34" charset="0"/>
              </a:rPr>
              <a:t>arg</a:t>
            </a:r>
            <a:r>
              <a:rPr lang="en-US" sz="2000" dirty="0" smtClean="0">
                <a:latin typeface="Corbel" panose="020B0503020204020204" pitchFamily="34" charset="0"/>
              </a:rPr>
              <a:t>(</a:t>
            </a:r>
            <a:r>
              <a:rPr lang="en-US" sz="2000" dirty="0" err="1" smtClean="0">
                <a:latin typeface="Corbel" panose="020B0503020204020204" pitchFamily="34" charset="0"/>
              </a:rPr>
              <a:t>chrow</a:t>
            </a:r>
            <a:r>
              <a:rPr lang="en-US" sz="2000" dirty="0" smtClean="0">
                <a:latin typeface="Corbel" panose="020B0503020204020204" pitchFamily="34" charset="0"/>
              </a:rPr>
              <a:t>, </a:t>
            </a:r>
            <a:r>
              <a:rPr lang="en-US" sz="2000" dirty="0">
                <a:latin typeface="Corbel" panose="020B0503020204020204" pitchFamily="34" charset="0"/>
              </a:rPr>
              <a:t>find</a:t>
            </a:r>
            <a:r>
              <a:rPr lang="en-US" sz="2000" dirty="0" smtClean="0">
                <a:latin typeface="Corbel" panose="020B0503020204020204" pitchFamily="34" charset="0"/>
              </a:rPr>
              <a:t>));</a:t>
            </a:r>
            <a:endParaRPr lang="ru-RU" sz="2000" dirty="0" smtClean="0">
              <a:latin typeface="Corbel" panose="020B0503020204020204" pitchFamily="34" charset="0"/>
            </a:endParaRPr>
          </a:p>
          <a:p>
            <a:pPr marL="0" indent="0">
              <a:buNone/>
            </a:pPr>
            <a:endParaRPr lang="en-US" sz="2000" dirty="0" smtClean="0">
              <a:latin typeface="Corbel" panose="020B0503020204020204" pitchFamily="34" charset="0"/>
            </a:endParaRPr>
          </a:p>
          <a:p>
            <a:r>
              <a:rPr lang="ru-RU" sz="2000" b="1" dirty="0" smtClean="0">
                <a:latin typeface="Corbel" panose="020B0503020204020204" pitchFamily="34" charset="0"/>
              </a:rPr>
              <a:t>Удаление ячейки по номеру</a:t>
            </a:r>
            <a:r>
              <a:rPr lang="en-US" sz="2000" b="1" dirty="0" smtClean="0">
                <a:latin typeface="Corbel" panose="020B0503020204020204" pitchFamily="34" charset="0"/>
              </a:rPr>
              <a:t>:</a:t>
            </a:r>
          </a:p>
          <a:p>
            <a:pPr marL="0" indent="0">
              <a:buNone/>
            </a:pPr>
            <a:r>
              <a:rPr lang="ru-RU" sz="2000" dirty="0" smtClean="0">
                <a:latin typeface="Corbel" panose="020B0503020204020204" pitchFamily="34" charset="0"/>
              </a:rPr>
              <a:t>	</a:t>
            </a:r>
            <a:r>
              <a:rPr lang="en-US" sz="2000" dirty="0" err="1" smtClean="0">
                <a:latin typeface="Corbel" panose="020B0503020204020204" pitchFamily="34" charset="0"/>
              </a:rPr>
              <a:t>QString</a:t>
            </a:r>
            <a:r>
              <a:rPr lang="en-US" sz="2000" dirty="0">
                <a:latin typeface="Corbel" panose="020B0503020204020204" pitchFamily="34" charset="0"/>
              </a:rPr>
              <a:t>("delete from %1 where %1_id = %2;").</a:t>
            </a:r>
            <a:r>
              <a:rPr lang="en-US" sz="2000" dirty="0" err="1" smtClean="0">
                <a:latin typeface="Corbel" panose="020B0503020204020204" pitchFamily="34" charset="0"/>
              </a:rPr>
              <a:t>arg</a:t>
            </a:r>
            <a:r>
              <a:rPr lang="en-US" sz="2000" dirty="0" smtClean="0">
                <a:latin typeface="Corbel" panose="020B0503020204020204" pitchFamily="34" charset="0"/>
              </a:rPr>
              <a:t>(</a:t>
            </a:r>
          </a:p>
          <a:p>
            <a:pPr marL="0" indent="0">
              <a:buNone/>
            </a:pPr>
            <a:r>
              <a:rPr lang="ru-RU" sz="2000" dirty="0" smtClean="0">
                <a:latin typeface="Corbel" panose="020B0503020204020204" pitchFamily="34" charset="0"/>
              </a:rPr>
              <a:t>	</a:t>
            </a:r>
            <a:r>
              <a:rPr lang="en-US" sz="2000" dirty="0" err="1" smtClean="0">
                <a:latin typeface="Corbel" panose="020B0503020204020204" pitchFamily="34" charset="0"/>
              </a:rPr>
              <a:t>itemstr</a:t>
            </a:r>
            <a:r>
              <a:rPr lang="en-US" sz="2000" dirty="0" smtClean="0">
                <a:latin typeface="Corbel" panose="020B0503020204020204" pitchFamily="34" charset="0"/>
              </a:rPr>
              <a:t>, </a:t>
            </a:r>
            <a:r>
              <a:rPr lang="en-US" sz="2000" dirty="0" err="1" smtClean="0">
                <a:latin typeface="Corbel" panose="020B0503020204020204" pitchFamily="34" charset="0"/>
              </a:rPr>
              <a:t>QString</a:t>
            </a:r>
            <a:r>
              <a:rPr lang="en-US" sz="2000" dirty="0">
                <a:latin typeface="Corbel" panose="020B0503020204020204" pitchFamily="34" charset="0"/>
              </a:rPr>
              <a:t>::number(</a:t>
            </a:r>
            <a:r>
              <a:rPr lang="en-US" sz="2000" dirty="0" err="1">
                <a:latin typeface="Corbel" panose="020B0503020204020204" pitchFamily="34" charset="0"/>
              </a:rPr>
              <a:t>ind</a:t>
            </a:r>
            <a:r>
              <a:rPr lang="en-US" sz="2000" dirty="0" smtClean="0">
                <a:latin typeface="Corbel" panose="020B0503020204020204" pitchFamily="34" charset="0"/>
              </a:rPr>
              <a:t>))</a:t>
            </a:r>
          </a:p>
          <a:p>
            <a:endParaRPr lang="ru-RU" dirty="0" smtClean="0">
              <a:latin typeface="Corbel" panose="020B050302020402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9014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заключение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31136" y="3288675"/>
            <a:ext cx="7729728" cy="3101983"/>
          </a:xfrm>
        </p:spPr>
        <p:txBody>
          <a:bodyPr/>
          <a:lstStyle/>
          <a:p>
            <a:r>
              <a:rPr lang="ru-RU" dirty="0" smtClean="0"/>
              <a:t>Программа была разработана для управления БД, которая хранит информацию об аспирантах кафедры.</a:t>
            </a:r>
          </a:p>
          <a:p>
            <a:r>
              <a:rPr lang="ru-RU" dirty="0" smtClean="0"/>
              <a:t>Разработка программы проводилась на языке </a:t>
            </a:r>
            <a:r>
              <a:rPr lang="en-US" dirty="0" smtClean="0">
                <a:latin typeface="Corbel" panose="020B0503020204020204" pitchFamily="34" charset="0"/>
              </a:rPr>
              <a:t>C++ </a:t>
            </a:r>
            <a:r>
              <a:rPr lang="ru-RU" dirty="0" smtClean="0"/>
              <a:t>с использованием среды разработки </a:t>
            </a:r>
            <a:r>
              <a:rPr lang="en-US" dirty="0" err="1" smtClean="0">
                <a:latin typeface="Corbel" panose="020B0503020204020204" pitchFamily="34" charset="0"/>
              </a:rPr>
              <a:t>Qt</a:t>
            </a:r>
            <a:r>
              <a:rPr lang="en-US" dirty="0" smtClean="0">
                <a:latin typeface="Corbel" panose="020B0503020204020204" pitchFamily="34" charset="0"/>
              </a:rPr>
              <a:t> Creator</a:t>
            </a:r>
            <a:r>
              <a:rPr lang="ru-RU" dirty="0" smtClean="0">
                <a:latin typeface="Corbel" panose="020B0503020204020204" pitchFamily="34" charset="0"/>
              </a:rPr>
              <a:t>.</a:t>
            </a:r>
            <a:endParaRPr lang="ru-RU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1028974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TM10001115[[fn=Посылка]]</Template>
  <TotalTime>48</TotalTime>
  <Words>150</Words>
  <Application>Microsoft Office PowerPoint</Application>
  <PresentationFormat>Широкоэкранный</PresentationFormat>
  <Paragraphs>31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Corbel</vt:lpstr>
      <vt:lpstr>Gill Sans MT</vt:lpstr>
      <vt:lpstr>Parcel</vt:lpstr>
      <vt:lpstr>Демо-модель  ИС «аспирантов кафедры»</vt:lpstr>
      <vt:lpstr>Цель и задачи</vt:lpstr>
      <vt:lpstr>назначение</vt:lpstr>
      <vt:lpstr>Условия выполнения</vt:lpstr>
      <vt:lpstr>выполнение</vt:lpstr>
      <vt:lpstr>Вход в систему</vt:lpstr>
      <vt:lpstr>Управление бд</vt:lpstr>
      <vt:lpstr>управление таблицами</vt:lpstr>
      <vt:lpstr>Добавление строки</vt:lpstr>
      <vt:lpstr>Основные трудности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Демо-модель  ИС «аспирантов кафедры»</dc:title>
  <dc:creator>Frank</dc:creator>
  <cp:lastModifiedBy>Frank</cp:lastModifiedBy>
  <cp:revision>6</cp:revision>
  <dcterms:created xsi:type="dcterms:W3CDTF">2022-06-16T22:05:22Z</dcterms:created>
  <dcterms:modified xsi:type="dcterms:W3CDTF">2022-06-16T22:53:49Z</dcterms:modified>
</cp:coreProperties>
</file>